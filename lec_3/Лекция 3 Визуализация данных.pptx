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8" r:id="rId3"/>
    <p:sldId id="259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76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9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0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78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28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23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77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91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20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45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A3BF6D-E596-46C7-8BFE-8B0FAA3E98F3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18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6C0FB-EBF7-847A-7BB4-0886670A40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Визуализация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927AC4-0FF7-3463-264B-4EDAFEED2A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32507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7DA52-74A4-9913-B38B-3AF11BEA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0BF54E-D46B-C083-F8C3-D11988B86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2"/>
                </a:solidFill>
              </a:rPr>
              <a:t>Matplotlib</a:t>
            </a:r>
          </a:p>
          <a:p>
            <a:endParaRPr lang="en-US" sz="2800" dirty="0"/>
          </a:p>
          <a:p>
            <a:endParaRPr lang="ru-RU" sz="2800" dirty="0"/>
          </a:p>
          <a:p>
            <a:r>
              <a:rPr lang="en-US" sz="4800" dirty="0">
                <a:solidFill>
                  <a:schemeClr val="accent2"/>
                </a:solidFill>
              </a:rPr>
              <a:t>Seaborn</a:t>
            </a:r>
          </a:p>
          <a:p>
            <a:endParaRPr lang="ru-RU" sz="3600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D18C97A4-C4CE-92D1-3E8E-30F9EC1156BF}"/>
              </a:ext>
            </a:extLst>
          </p:cNvPr>
          <p:cNvSpPr txBox="1">
            <a:spLocks/>
          </p:cNvSpPr>
          <p:nvPr/>
        </p:nvSpPr>
        <p:spPr>
          <a:xfrm>
            <a:off x="2133600" y="2513764"/>
            <a:ext cx="10058400" cy="145075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!pip install matplotlib</a:t>
            </a:r>
          </a:p>
          <a:p>
            <a:pPr marL="0" indent="0">
              <a:buNone/>
            </a:pPr>
            <a:r>
              <a:rPr lang="en-US" sz="3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matplotlib.pyplot as plt</a:t>
            </a:r>
          </a:p>
          <a:p>
            <a:pPr marL="0" indent="0">
              <a:buNone/>
            </a:pPr>
            <a:endParaRPr lang="ru-RU" sz="3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  <p:sp>
        <p:nvSpPr>
          <p:cNvPr id="4" name="Объект 4">
            <a:extLst>
              <a:ext uri="{FF2B5EF4-FFF2-40B4-BE49-F238E27FC236}">
                <a16:creationId xmlns:a16="http://schemas.microsoft.com/office/drawing/2014/main" id="{EB83CD67-E750-2945-5CDE-EA1EF506EA55}"/>
              </a:ext>
            </a:extLst>
          </p:cNvPr>
          <p:cNvSpPr txBox="1">
            <a:spLocks/>
          </p:cNvSpPr>
          <p:nvPr/>
        </p:nvSpPr>
        <p:spPr>
          <a:xfrm>
            <a:off x="2225040" y="4526712"/>
            <a:ext cx="10058400" cy="145075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!pip install seaborn</a:t>
            </a:r>
          </a:p>
          <a:p>
            <a:pPr marL="0" indent="0">
              <a:buNone/>
            </a:pPr>
            <a:r>
              <a:rPr lang="en-US" sz="3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seaborn as </a:t>
            </a:r>
            <a:r>
              <a:rPr lang="en-US" sz="3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sz="3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3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31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График, линия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D45638-D92F-082F-68D0-487DAD61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616" y="1731028"/>
            <a:ext cx="6986615" cy="456817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7DA52-74A4-9913-B38B-3AF11BEA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27237"/>
          </a:xfrm>
        </p:spPr>
        <p:txBody>
          <a:bodyPr/>
          <a:lstStyle/>
          <a:p>
            <a:r>
              <a:rPr lang="ru-RU" dirty="0"/>
              <a:t>Линейный график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6C7D1-F74B-42B1-EE1F-D43601DDBF87}"/>
              </a:ext>
            </a:extLst>
          </p:cNvPr>
          <p:cNvSpPr txBox="1"/>
          <p:nvPr/>
        </p:nvSpPr>
        <p:spPr>
          <a:xfrm flipH="1">
            <a:off x="6306662" y="443021"/>
            <a:ext cx="57939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создаём массив из 100 точек от 0 до 10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x = np.linspace(0, 10, 100)</a:t>
            </a:r>
            <a:endParaRPr lang="ru-RU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вычисляем синус от каждого значения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y =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np.sin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строим график синуса с меткой и цветом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plt.plot(x, y, label="sin(x)", color="blue")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# подписываем ось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plt.ylabel("</a:t>
            </a:r>
            <a:r>
              <a:rPr lang="ru-RU" b="1" dirty="0">
                <a:latin typeface="Consolas" panose="020B0609020204030204" pitchFamily="49" charset="0"/>
                <a:cs typeface="Courier New" panose="02070309020205020404" pitchFamily="49" charset="0"/>
              </a:rPr>
              <a:t>Значение")</a:t>
            </a:r>
          </a:p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# задаём заголовок графика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</a:t>
            </a:r>
            <a:r>
              <a:rPr lang="ru-RU" b="1" dirty="0">
                <a:latin typeface="Consolas" panose="020B0609020204030204" pitchFamily="49" charset="0"/>
                <a:cs typeface="Courier New" panose="02070309020205020404" pitchFamily="49" charset="0"/>
              </a:rPr>
              <a:t>Линейный график") </a:t>
            </a: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# отображаем легенду (метку "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sin(x)")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plt.legend()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показываем график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213755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D322-39E0-8BCE-F699-DFF9F86D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32EF0-EDCC-7603-786B-EFF79871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Диаграмма рассеяния (</a:t>
            </a:r>
            <a:r>
              <a:rPr lang="en-US" dirty="0"/>
              <a:t>scatter-</a:t>
            </a:r>
            <a:r>
              <a:rPr lang="ru-RU" dirty="0"/>
              <a:t>диаграмма)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2125E-1C5D-5725-3CC8-2A2A5D429F71}"/>
              </a:ext>
            </a:extLst>
          </p:cNvPr>
          <p:cNvSpPr txBox="1"/>
          <p:nvPr/>
        </p:nvSpPr>
        <p:spPr>
          <a:xfrm flipH="1">
            <a:off x="6398069" y="2136338"/>
            <a:ext cx="579393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x = np.random.normal(size=100)</a:t>
            </a:r>
            <a:endParaRPr lang="ru-RU" sz="2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y = np.random.normal(size=100)</a:t>
            </a:r>
            <a:endParaRPr lang="ru-RU" sz="2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plt.scatter(x, y, c=y&gt;0)</a:t>
            </a:r>
            <a:b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endParaRPr lang="en-US" sz="2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pic>
        <p:nvPicPr>
          <p:cNvPr id="6" name="Рисунок 5" descr="Изображение выглядит как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B02304-47A1-A780-EE2F-EF3C384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3" y="2611120"/>
            <a:ext cx="5651787" cy="378968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44777841-C764-EC15-ACC4-23976AB9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158240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Показывают зависимость между данными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51637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862D-5E84-64D4-2449-28150C7F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04080-7570-E33E-9CCC-CFFE1A13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Гистограмма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E7405-32D4-B17A-464E-F315A90DB5C1}"/>
              </a:ext>
            </a:extLst>
          </p:cNvPr>
          <p:cNvSpPr txBox="1"/>
          <p:nvPr/>
        </p:nvSpPr>
        <p:spPr>
          <a:xfrm flipH="1">
            <a:off x="6258560" y="3137473"/>
            <a:ext cx="579393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data = np.random.randn(1000)</a:t>
            </a:r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создаём гистограмму с 30 интервалами (бинами)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plt.hist(data, bins=30, color="green", alpha=0.7)</a:t>
            </a:r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plt.ylabel("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Частота")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Гистограмма распределения")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pic>
        <p:nvPicPr>
          <p:cNvPr id="4" name="Рисунок 3" descr="Изображение выглядит как диаграмма, График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DE678D-D8AC-B231-44F8-76EB82175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69" y="2869813"/>
            <a:ext cx="5864491" cy="3231654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7504B604-4394-B8EE-E956-36E222DA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029208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Показывает сколько значений попадает в определенные интервалы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47673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ED07-A866-3A3C-D818-13CF79A4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786A6-1C8B-E379-30BA-9ACF5352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Столбчатая диаграмма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4A683-917E-3269-7E7D-D208CEE48F2F}"/>
              </a:ext>
            </a:extLst>
          </p:cNvPr>
          <p:cNvSpPr txBox="1"/>
          <p:nvPr/>
        </p:nvSpPr>
        <p:spPr>
          <a:xfrm flipH="1">
            <a:off x="5686869" y="2337432"/>
            <a:ext cx="57939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# категории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using = ["Python", "Java", "C++", "JavaScript"]</a:t>
            </a:r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значения для каждой категории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visualization = [24, 11, 12, 4]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строим столбчатую диаграмму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plt.bar(using, visualization, color="purple")</a:t>
            </a:r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подписываем ось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plt.xlabel("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Языки программирования")</a:t>
            </a:r>
          </a:p>
          <a:p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plt.ylabel("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Популярность")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Столбчатая диаграмма")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A830991-B580-C7DF-927A-133F2CECC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029208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Позволяет сравнивать разные категории по числовому значению</a:t>
            </a:r>
            <a:endParaRPr lang="ru-RU" sz="5400" dirty="0"/>
          </a:p>
        </p:txBody>
      </p:sp>
      <p:pic>
        <p:nvPicPr>
          <p:cNvPr id="6" name="Рисунок 5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FA3A09-CC0C-6FE5-E966-9963D337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2951051"/>
            <a:ext cx="4287520" cy="339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9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CC86-65A5-5BF0-268E-1C0392E6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41C4F-4B39-9179-43AE-144AB2B3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Круговая диаграмма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95BEA-8CCA-5779-C8C5-70213E118ABC}"/>
              </a:ext>
            </a:extLst>
          </p:cNvPr>
          <p:cNvSpPr txBox="1"/>
          <p:nvPr/>
        </p:nvSpPr>
        <p:spPr>
          <a:xfrm flipH="1">
            <a:off x="5686868" y="2337432"/>
            <a:ext cx="62511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# подписи для секторов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labels = ["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Еда", "Транспорт", "Жильё", "Развлечения"]</a:t>
            </a:r>
          </a:p>
          <a:p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# процентное соотношение секторов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sizes = [30, 20, 40, 10]</a:t>
            </a:r>
            <a:endParaRPr lang="ru-RU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передаём размеры секторов, их названия и цвета, 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autopct="%1.1f%%"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отображает процент внутри каждого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сектора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plt.pie(sizes, labels=labels, autopct="%1.1f%%",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colors=["blue", "red", "green", "yellow"])</a:t>
            </a: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Круговая диаграмма")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F5EC621-4889-0F45-3F44-E5E35D2A0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029208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Показывает долю каждого сектора в общем объеме</a:t>
            </a:r>
            <a:endParaRPr lang="ru-RU" sz="5400" dirty="0"/>
          </a:p>
        </p:txBody>
      </p:sp>
      <p:pic>
        <p:nvPicPr>
          <p:cNvPr id="9" name="Рисунок 8" descr="Изображение выглядит как текст, диаграмма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7BB804-B126-9F21-644F-CCD5B468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37432"/>
            <a:ext cx="4871459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1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26EB-F6A6-29AA-4109-44DE7D98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6FF09-A73D-8480-BB77-B54D5FCF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en-US" dirty="0"/>
              <a:t>Boxplot</a:t>
            </a:r>
            <a:r>
              <a:rPr lang="ru-RU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BCD19-0E25-1998-7220-782C6B91CAC5}"/>
              </a:ext>
            </a:extLst>
          </p:cNvPr>
          <p:cNvSpPr txBox="1"/>
          <p:nvPr/>
        </p:nvSpPr>
        <p:spPr>
          <a:xfrm flipH="1">
            <a:off x="5595428" y="2836545"/>
            <a:ext cx="62511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c</a:t>
            </a:r>
            <a:r>
              <a:rPr lang="ru-RU" dirty="0"/>
              <a:t>оздаём 4 группы данных, каждая с разным разбросом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data = [np.random.randn(100) * i for i in range(1, 5)]</a:t>
            </a: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c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троим диаграмму разброса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plt.boxplot(data)</a:t>
            </a: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plt.xlabel("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Группы данных")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plt.ylabel("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Значения")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plt.title("Boxplot")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F467AC9-DB9E-B220-23F7-B610A992C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158240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Boxplot используется для изучения разброса данных и выявления выбросов</a:t>
            </a:r>
            <a:r>
              <a:rPr lang="ru-RU" dirty="0"/>
              <a:t>.</a:t>
            </a:r>
            <a:endParaRPr lang="ru-RU" sz="5400" dirty="0"/>
          </a:p>
        </p:txBody>
      </p:sp>
      <p:pic>
        <p:nvPicPr>
          <p:cNvPr id="4" name="Рисунок 3" descr="Изображение выглядит как диаграмма, Технический чертеж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27942-F501-FF20-BE0D-D02D91BC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17" y="2691996"/>
            <a:ext cx="5038851" cy="366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5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3FB8-64C0-1C14-BDD4-CBEEB374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BB6BB-C947-2D00-D759-F63F3B42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en-US" dirty="0"/>
              <a:t>3D</a:t>
            </a:r>
            <a:r>
              <a:rPr lang="ru-RU" dirty="0"/>
              <a:t>-график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96A8E-3290-5569-7630-CC93C4000334}"/>
              </a:ext>
            </a:extLst>
          </p:cNvPr>
          <p:cNvSpPr txBox="1"/>
          <p:nvPr/>
        </p:nvSpPr>
        <p:spPr>
          <a:xfrm flipH="1">
            <a:off x="5595429" y="2337432"/>
            <a:ext cx="6251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x = np.linspace(-5, 5, 30)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y = np.linspace(-5, 5, 30)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c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оздаём сетку координат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X, Y =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np.meshgrid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(x, y)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вычисляем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Z-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координаты (волнообразная поверхность)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Z = np.sin(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np.sqrt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(X**2 + Y**2))</a:t>
            </a:r>
          </a:p>
          <a:p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создаём фигуру для графика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fig =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plt.figure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добавляем 3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D-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ось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ax =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fig.add_subplot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(111, projection="3d")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строим 3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D-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поверхность с цветовой схемой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ax.plot_surface(X, Y, Z,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cmap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="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viridis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plt.title("3D-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график")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plt.show()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8D1935D-9C8E-5FC6-849B-0BA4925CE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158240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Позволяет визуализировать данные в трехмерном пространстве</a:t>
            </a:r>
            <a:endParaRPr lang="ru-RU" sz="5400" dirty="0"/>
          </a:p>
        </p:txBody>
      </p:sp>
      <p:pic>
        <p:nvPicPr>
          <p:cNvPr id="6" name="Рисунок 5" descr="Изображение выглядит как диаграмма, Графика, оригами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80D9A4-1FAD-D480-A56B-6CBE9E2AF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7" y="2752407"/>
            <a:ext cx="39528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D7FB-A23D-58EC-EB63-E8C7E7C9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80F65-91CD-2B2E-292E-D15F517D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Тепловая карта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5B468-E094-20C6-8F0B-5A5979F2CE74}"/>
              </a:ext>
            </a:extLst>
          </p:cNvPr>
          <p:cNvSpPr txBox="1"/>
          <p:nvPr/>
        </p:nvSpPr>
        <p:spPr>
          <a:xfrm flipH="1">
            <a:off x="5232419" y="2225654"/>
            <a:ext cx="685798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=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np.random.rand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(10, 10)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используем для графика созданную матрицу,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imshow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отображает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матрицу как изображение,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cmap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цветовая схема,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interpolation="nearest"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означает, что мы отображаем пиксели без сглаживания</a:t>
            </a:r>
          </a:p>
          <a:p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plt.imshow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(data,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cmap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coolwarm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", interpolation="nearest")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добавляем шкалу значений</a:t>
            </a:r>
          </a:p>
          <a:p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plt.colorbar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plt.title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Тепловая карта")</a:t>
            </a:r>
          </a:p>
          <a:p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plt.show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E1B4EC8-C62B-6858-666F-1EE93F33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158240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Используются для отображения интенсивности значений</a:t>
            </a:r>
            <a:endParaRPr lang="ru-RU" sz="5400" dirty="0"/>
          </a:p>
        </p:txBody>
      </p:sp>
      <p:pic>
        <p:nvPicPr>
          <p:cNvPr id="4" name="Рисунок 3" descr="Изображение выглядит как снимок экрана, прямоугольный, Прямоугольник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60B1B9-28DB-F985-E2A2-416AB6BE1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37432"/>
            <a:ext cx="4724419" cy="38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0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A7B1-DE53-93F8-9B86-ED50D72C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F6B47-D01C-0F6B-D7E5-EDD2E64E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6603"/>
            <a:ext cx="10972800" cy="1227237"/>
          </a:xfrm>
        </p:spPr>
        <p:txBody>
          <a:bodyPr>
            <a:normAutofit/>
          </a:bodyPr>
          <a:lstStyle/>
          <a:p>
            <a:r>
              <a:rPr lang="ru-RU" dirty="0"/>
              <a:t>Тепловая карта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FE787-B4AA-23ED-6724-73979159879B}"/>
              </a:ext>
            </a:extLst>
          </p:cNvPr>
          <p:cNvSpPr txBox="1"/>
          <p:nvPr/>
        </p:nvSpPr>
        <p:spPr>
          <a:xfrm flipH="1">
            <a:off x="5232419" y="2225654"/>
            <a:ext cx="685798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= np.random.rand(10, 10)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используем для графика созданную матрицу,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imshow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отображает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матрицу как изображение,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cmap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цветовая схема,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interpolation="nearest"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означает, что мы отображаем пиксели без сглаживания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plt.imshow(data,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cmap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coolwarm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", interpolation="nearest")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добавляем шкалу значений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plt.colorbar()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plt.title("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Тепловая карта")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plt.show()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A5F9A9E-FB94-E3E6-6268-08D90338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" y="1723814"/>
            <a:ext cx="11582400" cy="1227237"/>
          </a:xfrm>
        </p:spPr>
        <p:txBody>
          <a:bodyPr>
            <a:normAutofit/>
          </a:bodyPr>
          <a:lstStyle/>
          <a:p>
            <a:r>
              <a:rPr lang="ru-RU" sz="3600" dirty="0"/>
              <a:t>Используются для отображения интенсивности значений</a:t>
            </a:r>
            <a:endParaRPr lang="ru-RU" sz="5400" dirty="0"/>
          </a:p>
        </p:txBody>
      </p:sp>
      <p:pic>
        <p:nvPicPr>
          <p:cNvPr id="4" name="Рисунок 3" descr="Изображение выглядит как снимок экрана, прямоугольный, Прямоугольник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D7D3E4-B90D-5031-7C20-1194BB540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37432"/>
            <a:ext cx="4724419" cy="38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1642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1141</TotalTime>
  <Words>827</Words>
  <Application>Microsoft Office PowerPoint</Application>
  <PresentationFormat>Широкоэкранный</PresentationFormat>
  <Paragraphs>144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Consolas</vt:lpstr>
      <vt:lpstr>Courier New</vt:lpstr>
      <vt:lpstr>Ретро</vt:lpstr>
      <vt:lpstr>Визуализация данных</vt:lpstr>
      <vt:lpstr>Библиотеки</vt:lpstr>
      <vt:lpstr>Линейный график</vt:lpstr>
      <vt:lpstr>Диаграмма рассеяния (scatter-диаграмма)</vt:lpstr>
      <vt:lpstr>Гистограмма </vt:lpstr>
      <vt:lpstr>Столбчатая диаграмма </vt:lpstr>
      <vt:lpstr>Круговая диаграмма </vt:lpstr>
      <vt:lpstr>Boxplot </vt:lpstr>
      <vt:lpstr>3D-график </vt:lpstr>
      <vt:lpstr>Тепловая карта </vt:lpstr>
      <vt:lpstr>Тепловая карта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Pereskokov Viktor</dc:creator>
  <cp:lastModifiedBy>Pereskokov Viktor</cp:lastModifiedBy>
  <cp:revision>10</cp:revision>
  <dcterms:created xsi:type="dcterms:W3CDTF">2024-07-21T15:02:04Z</dcterms:created>
  <dcterms:modified xsi:type="dcterms:W3CDTF">2026-02-19T09:26:09Z</dcterms:modified>
</cp:coreProperties>
</file>