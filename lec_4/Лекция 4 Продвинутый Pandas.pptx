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59" r:id="rId9"/>
    <p:sldId id="261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76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9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01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78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28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23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77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91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20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45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A3BF6D-E596-46C7-8BFE-8B0FAA3E98F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4365E5-CCD0-4F75-B30C-2DF90A621D77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18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6C0FB-EBF7-847A-7BB4-0886670A40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Продвинутый </a:t>
            </a:r>
            <a:r>
              <a:rPr lang="en-US" dirty="0"/>
              <a:t>Pandas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927AC4-0FF7-3463-264B-4EDAFEED2A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07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7DA52-74A4-9913-B38B-3AF11BEA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Индексы в </a:t>
            </a:r>
            <a:r>
              <a:rPr lang="en-US" dirty="0"/>
              <a:t>Series </a:t>
            </a:r>
            <a:r>
              <a:rPr lang="ru-RU" dirty="0"/>
              <a:t>и </a:t>
            </a:r>
            <a:r>
              <a:rPr lang="en-US" dirty="0"/>
              <a:t>DataFrame</a:t>
            </a:r>
            <a:endParaRPr lang="ru-RU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D18C97A4-C4CE-92D1-3E8E-30F9EC1156BF}"/>
              </a:ext>
            </a:extLst>
          </p:cNvPr>
          <p:cNvSpPr txBox="1">
            <a:spLocks/>
          </p:cNvSpPr>
          <p:nvPr/>
        </p:nvSpPr>
        <p:spPr>
          <a:xfrm>
            <a:off x="4653280" y="1954964"/>
            <a:ext cx="7325360" cy="39276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s = pd.Series([ 1,  2,  10,  12],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index=['one', 'two', 'ten', 'twelve'])</a:t>
            </a:r>
          </a:p>
          <a:p>
            <a:endParaRPr lang="en-US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s[0]             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s[3]                # 12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s['one']         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s['ten']            # 10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356B7-B026-D96C-EC98-E278200A5BB8}"/>
              </a:ext>
            </a:extLst>
          </p:cNvPr>
          <p:cNvSpPr txBox="1"/>
          <p:nvPr/>
        </p:nvSpPr>
        <p:spPr>
          <a:xfrm>
            <a:off x="863600" y="1873684"/>
            <a:ext cx="36779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 умолчанию к элементам можно обращаться по порядковому номеру (координате), </a:t>
            </a:r>
          </a:p>
          <a:p>
            <a:r>
              <a:rPr lang="ru-RU" sz="2400" dirty="0"/>
              <a:t>нумерация с нуля.</a:t>
            </a:r>
          </a:p>
          <a:p>
            <a:endParaRPr lang="ru-RU" sz="2400" dirty="0"/>
          </a:p>
          <a:p>
            <a:r>
              <a:rPr lang="ru-RU" sz="2400" dirty="0"/>
              <a:t>При наличии строкового индекса можно обращаться к элементам как по координате, так и по индексу.</a:t>
            </a:r>
          </a:p>
        </p:txBody>
      </p:sp>
    </p:spTree>
    <p:extLst>
      <p:ext uri="{BB962C8B-B14F-4D97-AF65-F5344CB8AC3E}">
        <p14:creationId xmlns:p14="http://schemas.microsoft.com/office/powerpoint/2010/main" val="241631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BF0F-3B50-1081-E8CE-DD4814D8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23136-F46A-843E-BFB2-0B71B732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Посмотреть</a:t>
            </a:r>
            <a:r>
              <a:rPr lang="en-US" dirty="0"/>
              <a:t> Index</a:t>
            </a:r>
            <a:endParaRPr lang="ru-RU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CC9C05E2-E6C2-8AF3-B904-078543A7234C}"/>
              </a:ext>
            </a:extLst>
          </p:cNvPr>
          <p:cNvSpPr txBox="1">
            <a:spLocks/>
          </p:cNvSpPr>
          <p:nvPr/>
        </p:nvSpPr>
        <p:spPr>
          <a:xfrm>
            <a:off x="4826000" y="1761924"/>
            <a:ext cx="7132320" cy="429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pd.DataFrame({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'id':  [ 1,   2,   3,   4],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'age': [10,  11,  12,  13]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})</a:t>
            </a:r>
          </a:p>
          <a:p>
            <a:r>
              <a:rPr lang="en-US" sz="2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df.index</a:t>
            </a:r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# RangeIndex(start=0, stop=4, step=1)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AA57C-507C-23F4-4926-C53810A4D27C}"/>
              </a:ext>
            </a:extLst>
          </p:cNvPr>
          <p:cNvSpPr txBox="1"/>
          <p:nvPr/>
        </p:nvSpPr>
        <p:spPr>
          <a:xfrm>
            <a:off x="1148080" y="1975284"/>
            <a:ext cx="3677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DataFrame.index</a:t>
            </a:r>
          </a:p>
          <a:p>
            <a:endParaRPr lang="en-US" sz="2800" dirty="0"/>
          </a:p>
          <a:p>
            <a:r>
              <a:rPr lang="en-US" sz="2800" dirty="0" err="1"/>
              <a:t>Series.index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4428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99CA-8B06-37EF-8D8A-F4D35C5E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036E9-A199-11B0-D543-925D4625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Назначить</a:t>
            </a:r>
            <a:r>
              <a:rPr lang="en-US" dirty="0"/>
              <a:t> Index</a:t>
            </a:r>
            <a:endParaRPr lang="ru-RU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0A998573-EC99-1557-5180-3B09BA008AB2}"/>
              </a:ext>
            </a:extLst>
          </p:cNvPr>
          <p:cNvSpPr txBox="1">
            <a:spLocks/>
          </p:cNvSpPr>
          <p:nvPr/>
        </p:nvSpPr>
        <p:spPr>
          <a:xfrm>
            <a:off x="1198880" y="1761924"/>
            <a:ext cx="10759440" cy="4293436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pd.DataFrame({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'id':  [ 1,   2,   3,   4],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'age': [10,  11,  12,  13]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})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df.index = ['user1', 'user2', 'user3', 'user4'] 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df.index    </a:t>
            </a:r>
            <a:endParaRPr lang="ru-RU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ru-RU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</a:t>
            </a:r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# Index(['user1', 'user2', 'user3', 'user4'], dtype=object)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844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084B9-839A-AF10-8E64-79959F16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E316D-A107-E83B-BAB9-ECB75EB3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Колонки в Dataframe</a:t>
            </a:r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BE4D73FE-2379-7E82-0D17-A006D6446B96}"/>
              </a:ext>
            </a:extLst>
          </p:cNvPr>
          <p:cNvSpPr txBox="1">
            <a:spLocks/>
          </p:cNvSpPr>
          <p:nvPr/>
        </p:nvSpPr>
        <p:spPr>
          <a:xfrm>
            <a:off x="3515360" y="1863524"/>
            <a:ext cx="8442960" cy="42934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pd.DataFrame({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'id':  [ 1,  2,  3,  4],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'age': [10, 11, 12, 13]},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index=['user1', 'user2', 'user3', 'user4']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)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df.columns    </a:t>
            </a:r>
            <a:endParaRPr lang="ru-RU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ru-RU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</a:t>
            </a:r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# Index(['id', 'age'], dtype='object')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6CEF9-D0BE-6DEE-F2CE-56905E1DB545}"/>
              </a:ext>
            </a:extLst>
          </p:cNvPr>
          <p:cNvSpPr txBox="1"/>
          <p:nvPr/>
        </p:nvSpPr>
        <p:spPr>
          <a:xfrm>
            <a:off x="629920" y="1761924"/>
            <a:ext cx="28854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Названия колонок в DataFrame тоже являются своего рода индексами.</a:t>
            </a:r>
          </a:p>
          <a:p>
            <a:endParaRPr lang="ru-RU" sz="2800" dirty="0"/>
          </a:p>
          <a:p>
            <a:r>
              <a:rPr lang="ru-RU" sz="2400" dirty="0"/>
              <a:t>Их можно посмотреть с помощью свойства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columns</a:t>
            </a:r>
            <a: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00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A42F-7D97-B743-6365-52B7984C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5E692-9BFF-5FDC-D5D0-F0691FF0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Колонки в Dataframe</a:t>
            </a:r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EC401455-97C9-1C2D-6140-5A8B22FA1FE7}"/>
              </a:ext>
            </a:extLst>
          </p:cNvPr>
          <p:cNvSpPr txBox="1">
            <a:spLocks/>
          </p:cNvSpPr>
          <p:nvPr/>
        </p:nvSpPr>
        <p:spPr>
          <a:xfrm>
            <a:off x="3627120" y="1863524"/>
            <a:ext cx="8442960" cy="4293436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pd.DataFrame([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['1', 10],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['2', 11],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['3', 12],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['4', 13]],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index=['user1', 'user2', 'user3', 'user4']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)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df.columns    # RangeIndex(start=0, stop=2, step=1)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df[0][0]    # '1'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0BD3D-3205-C091-56E0-F63EAA076C77}"/>
              </a:ext>
            </a:extLst>
          </p:cNvPr>
          <p:cNvSpPr txBox="1"/>
          <p:nvPr/>
        </p:nvSpPr>
        <p:spPr>
          <a:xfrm>
            <a:off x="741680" y="1863524"/>
            <a:ext cx="2885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>
                <a:solidFill>
                  <a:srgbClr val="232943"/>
                </a:solidFill>
                <a:latin typeface="PT Root UI"/>
              </a:rPr>
              <a:t>Если при создании DataFrame названия колонок не были заданы, к колонке можно обратиться, указав её порядковый номер, начиная с нуля. </a:t>
            </a:r>
          </a:p>
        </p:txBody>
      </p:sp>
    </p:spTree>
    <p:extLst>
      <p:ext uri="{BB962C8B-B14F-4D97-AF65-F5344CB8AC3E}">
        <p14:creationId xmlns:p14="http://schemas.microsoft.com/office/powerpoint/2010/main" val="1422142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43597-95C4-D162-9682-B3C87158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86115-7BAC-1CFC-3F9C-A787BD8D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Колонки в Dataframe</a:t>
            </a:r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FAF9AD28-A566-2D9D-C67C-1B02E64D2D8F}"/>
              </a:ext>
            </a:extLst>
          </p:cNvPr>
          <p:cNvSpPr txBox="1">
            <a:spLocks/>
          </p:cNvSpPr>
          <p:nvPr/>
        </p:nvSpPr>
        <p:spPr>
          <a:xfrm>
            <a:off x="3870960" y="2025130"/>
            <a:ext cx="8442960" cy="4293436"/>
          </a:xfrm>
          <a:prstGeom prst="rect">
            <a:avLst/>
          </a:prstGeom>
        </p:spPr>
        <p:txBody>
          <a:bodyPr vert="horz" lIns="0" tIns="45720" rIns="0" bIns="45720" rtlCol="0">
            <a:normAutofit fontScale="3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pd.DataFrame([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['1', 10],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['2', 11],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['3', 12],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['4', 13]],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index=['user1', 'user2', 'user3', 'user4']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)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df.columns = ['id', 'age']</a:t>
            </a:r>
          </a:p>
          <a:p>
            <a:endParaRPr lang="en-US" sz="60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df.columns    # Index(['id', 'age'], dtype='object')</a:t>
            </a:r>
          </a:p>
          <a:p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df[0][0]    # </a:t>
            </a:r>
            <a:r>
              <a:rPr lang="en-US" sz="60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KeyError</a:t>
            </a:r>
            <a:r>
              <a:rPr lang="en-US" sz="6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: 0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CAF11-312C-DEF4-3D34-90983F9DA09F}"/>
              </a:ext>
            </a:extLst>
          </p:cNvPr>
          <p:cNvSpPr txBox="1"/>
          <p:nvPr/>
        </p:nvSpPr>
        <p:spPr>
          <a:xfrm>
            <a:off x="741680" y="1863524"/>
            <a:ext cx="2885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dirty="0">
                <a:solidFill>
                  <a:srgbClr val="232943"/>
                </a:solidFill>
                <a:latin typeface="PT Root UI"/>
              </a:rPr>
              <a:t>Если названия колонок определены, к колонке нельзя обратиться по координате.</a:t>
            </a:r>
            <a:endParaRPr lang="ru-RU" altLang="ru-RU" sz="2400" dirty="0">
              <a:solidFill>
                <a:srgbClr val="232943"/>
              </a:solidFill>
              <a:latin typeface="PT Root UI"/>
            </a:endParaRPr>
          </a:p>
        </p:txBody>
      </p:sp>
    </p:spTree>
    <p:extLst>
      <p:ext uri="{BB962C8B-B14F-4D97-AF65-F5344CB8AC3E}">
        <p14:creationId xmlns:p14="http://schemas.microsoft.com/office/powerpoint/2010/main" val="184894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1EA5-8538-0DB7-A7EA-27447A1A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6CC97-F79D-60E9-AC4B-95344096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 в </a:t>
            </a:r>
            <a:r>
              <a:rPr lang="en-US" dirty="0"/>
              <a:t>DataFrame</a:t>
            </a:r>
            <a:endParaRPr lang="ru-RU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0553EFA1-FC49-26D1-59AA-2BB87329ECFA}"/>
              </a:ext>
            </a:extLst>
          </p:cNvPr>
          <p:cNvSpPr txBox="1">
            <a:spLocks/>
          </p:cNvSpPr>
          <p:nvPr/>
        </p:nvSpPr>
        <p:spPr>
          <a:xfrm>
            <a:off x="4541520" y="1873684"/>
            <a:ext cx="7416800" cy="4293436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pd.DataFrame({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'id':  [ 1,   2,   3,   4],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'age': [10,  11,  12,  13]},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index=['user1', 'user2', 'user3', 'user4']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)</a:t>
            </a:r>
          </a:p>
          <a:p>
            <a:endParaRPr lang="en-US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df['id'][0]      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df['age'][3]        # 13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df['id']['user1']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df['age']['user3']  # 12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1B682-48D5-99D1-A1B9-FB29FF071385}"/>
              </a:ext>
            </a:extLst>
          </p:cNvPr>
          <p:cNvSpPr txBox="1"/>
          <p:nvPr/>
        </p:nvSpPr>
        <p:spPr>
          <a:xfrm>
            <a:off x="863600" y="1873684"/>
            <a:ext cx="367792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 DataFrame обращение к элементам происходит по названию колонки и координате строки.</a:t>
            </a:r>
          </a:p>
          <a:p>
            <a:endParaRPr lang="ru-RU" sz="2800" dirty="0"/>
          </a:p>
          <a:p>
            <a:r>
              <a:rPr lang="ru-RU" sz="2400" dirty="0"/>
              <a:t>Строкам можно присвоить индексы и использовать их при обращении к данным вместо координат.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1308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C9DF-15A0-4294-CAC4-56BF6427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D8B62-0AC1-E5F9-CC6D-486869C1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строке в </a:t>
            </a:r>
            <a:r>
              <a:rPr lang="en-US" dirty="0"/>
              <a:t>DataFrame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A2B41-2E4F-6D9B-434B-9ACA1B56A1EF}"/>
              </a:ext>
            </a:extLst>
          </p:cNvPr>
          <p:cNvSpPr txBox="1"/>
          <p:nvPr/>
        </p:nvSpPr>
        <p:spPr>
          <a:xfrm>
            <a:off x="1097280" y="1965124"/>
            <a:ext cx="367792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Обращение к элементу по названию колонки и координате или индексу строки называется </a:t>
            </a:r>
            <a:r>
              <a:rPr lang="ru-RU" sz="2400" b="1" dirty="0"/>
              <a:t>операторной записью</a:t>
            </a:r>
            <a:r>
              <a:rPr lang="ru-RU" sz="2400" dirty="0"/>
              <a:t>.</a:t>
            </a:r>
            <a:endParaRPr lang="en-US" sz="2400" dirty="0"/>
          </a:p>
          <a:p>
            <a:endParaRPr lang="en-US" sz="2800" dirty="0"/>
          </a:p>
          <a:p>
            <a:r>
              <a:rPr lang="ru-RU" sz="2400" dirty="0"/>
              <a:t>Эта запись не позволяет вывести целиком строку, только отдельный элемент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3" name="Объект 4">
            <a:extLst>
              <a:ext uri="{FF2B5EF4-FFF2-40B4-BE49-F238E27FC236}">
                <a16:creationId xmlns:a16="http://schemas.microsoft.com/office/drawing/2014/main" id="{EA898D54-A95D-C0E4-B9AB-AAB48C975AA1}"/>
              </a:ext>
            </a:extLst>
          </p:cNvPr>
          <p:cNvSpPr txBox="1">
            <a:spLocks/>
          </p:cNvSpPr>
          <p:nvPr/>
        </p:nvSpPr>
        <p:spPr>
          <a:xfrm>
            <a:off x="4622800" y="1888227"/>
            <a:ext cx="7416800" cy="4293436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 = pd.DataFrame({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'id':  [ 1,   2,   3,   4],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  'age': [10,  11,  12,  13]},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 index=['user1', 'user2', 'user3', 'user4']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          )</a:t>
            </a:r>
          </a:p>
          <a:p>
            <a:endParaRPr lang="en-US" sz="28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df['id'][0]      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df['age'][3]        # 13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df['id']['user1']   # 1</a:t>
            </a:r>
          </a:p>
          <a:p>
            <a:r>
              <a:rPr lang="en-US" sz="2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df['age']['user3']  # 12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841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78525-F9E6-2443-8A28-48130A04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37064-FECA-B6F5-1F52-12262AE4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loc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5A8E2-795B-40B0-E830-F2E8B0E90885}"/>
              </a:ext>
            </a:extLst>
          </p:cNvPr>
          <p:cNvSpPr txBox="1"/>
          <p:nvPr/>
        </p:nvSpPr>
        <p:spPr>
          <a:xfrm>
            <a:off x="833120" y="1905506"/>
            <a:ext cx="4856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Функция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loc</a:t>
            </a:r>
            <a:r>
              <a:rPr lang="en-US" sz="2400" dirty="0"/>
              <a:t> </a:t>
            </a:r>
            <a:r>
              <a:rPr lang="ru-RU" sz="2400" dirty="0"/>
              <a:t>позволяет обратиться к одному или нескольким значениям.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Для этого в квадратных скобках нужно передать сначала индекс строки или строк, а потом название столбца или столбцов.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22748-947E-9114-BBE8-DE47079DFEA3}"/>
              </a:ext>
            </a:extLst>
          </p:cNvPr>
          <p:cNvSpPr txBox="1"/>
          <p:nvPr/>
        </p:nvSpPr>
        <p:spPr>
          <a:xfrm>
            <a:off x="1351280" y="318214"/>
            <a:ext cx="9550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DataFrame.loc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[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индекс(ы)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строк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, 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название столбца(ов)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]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5C1482D3-6B1A-E118-7910-0C7D942C9E67}"/>
              </a:ext>
            </a:extLst>
          </p:cNvPr>
          <p:cNvSpPr txBox="1">
            <a:spLocks/>
          </p:cNvSpPr>
          <p:nvPr/>
        </p:nvSpPr>
        <p:spPr>
          <a:xfrm>
            <a:off x="6197600" y="3901643"/>
            <a:ext cx="5161280" cy="2174701"/>
          </a:xfrm>
          <a:prstGeom prst="rect">
            <a:avLst/>
          </a:prstGeom>
        </p:spPr>
        <p:txBody>
          <a:bodyPr vert="horz" lIns="0" tIns="45720" rIns="0" bIns="45720" rtlCol="0">
            <a:normAutofit fontScale="2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df.loc[['user1', 'user3'], ['age']]</a:t>
            </a:r>
          </a:p>
          <a:p>
            <a:r>
              <a:rPr lang="en-US" sz="9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_______</a:t>
            </a:r>
          </a:p>
          <a:p>
            <a:r>
              <a:rPr lang="en-US" sz="9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      age</a:t>
            </a:r>
          </a:p>
          <a:p>
            <a:r>
              <a:rPr lang="en-US" sz="9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user1   10</a:t>
            </a:r>
          </a:p>
          <a:p>
            <a:r>
              <a:rPr lang="en-US" sz="96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user3   12</a:t>
            </a:r>
          </a:p>
          <a:p>
            <a:endParaRPr lang="ru-RU" dirty="0"/>
          </a:p>
        </p:txBody>
      </p:sp>
      <p:sp>
        <p:nvSpPr>
          <p:cNvPr id="12" name="Объект 4">
            <a:extLst>
              <a:ext uri="{FF2B5EF4-FFF2-40B4-BE49-F238E27FC236}">
                <a16:creationId xmlns:a16="http://schemas.microsoft.com/office/drawing/2014/main" id="{47EF352D-6E73-2F00-81E9-4D1CA03527EC}"/>
              </a:ext>
            </a:extLst>
          </p:cNvPr>
          <p:cNvSpPr txBox="1">
            <a:spLocks/>
          </p:cNvSpPr>
          <p:nvPr/>
        </p:nvSpPr>
        <p:spPr>
          <a:xfrm>
            <a:off x="1051559" y="5414272"/>
            <a:ext cx="4942842" cy="50464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df.loc['user1', 'age']   # 10</a:t>
            </a:r>
            <a:endParaRPr lang="ru-RU" dirty="0"/>
          </a:p>
        </p:txBody>
      </p:sp>
      <p:pic>
        <p:nvPicPr>
          <p:cNvPr id="14" name="Рисунок 13" descr="Изображение выглядит как текст, снимок экрана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DE9753-5174-23F6-0B92-439383BF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57312"/>
            <a:ext cx="50768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57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6030-86A0-5856-4B9B-E1903F8C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37948-8BEA-B5E1-768A-5DD059F7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loc</a:t>
            </a:r>
            <a:endParaRPr lang="ru-RU" dirty="0"/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742AB5EC-5D67-7377-2DA0-756EDDA45452}"/>
              </a:ext>
            </a:extLst>
          </p:cNvPr>
          <p:cNvSpPr txBox="1">
            <a:spLocks/>
          </p:cNvSpPr>
          <p:nvPr/>
        </p:nvSpPr>
        <p:spPr>
          <a:xfrm>
            <a:off x="5979161" y="3769361"/>
            <a:ext cx="5161280" cy="233746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df.loc['user1',:]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_______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id      1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age    10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Name: user1, dtype: object</a:t>
            </a:r>
          </a:p>
          <a:p>
            <a:endParaRPr lang="ru-RU" dirty="0"/>
          </a:p>
        </p:txBody>
      </p:sp>
      <p:sp>
        <p:nvSpPr>
          <p:cNvPr id="12" name="Объект 4">
            <a:extLst>
              <a:ext uri="{FF2B5EF4-FFF2-40B4-BE49-F238E27FC236}">
                <a16:creationId xmlns:a16="http://schemas.microsoft.com/office/drawing/2014/main" id="{A80BCE01-A817-BA2E-028A-4E18BEEE7A97}"/>
              </a:ext>
            </a:extLst>
          </p:cNvPr>
          <p:cNvSpPr txBox="1">
            <a:spLocks/>
          </p:cNvSpPr>
          <p:nvPr/>
        </p:nvSpPr>
        <p:spPr>
          <a:xfrm>
            <a:off x="1051559" y="2065539"/>
            <a:ext cx="4942842" cy="38533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df.loc[:, 'age']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_______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user1    10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user2    11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user3    12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user4    13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Name: age, dtype: int64</a:t>
            </a:r>
          </a:p>
        </p:txBody>
      </p:sp>
      <p:pic>
        <p:nvPicPr>
          <p:cNvPr id="4" name="Рисунок 3" descr="Изображение выглядит как текст, снимок экрана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9365A0-814A-DAB7-E00A-1D059BBAF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787" y="1377632"/>
            <a:ext cx="50768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9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EF98-C40C-1DED-F57B-04548BCD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2FDB7-E37E-2A27-7BCF-AF08752C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loc</a:t>
            </a:r>
            <a:endParaRPr lang="ru-RU" dirty="0"/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9DC10059-34CD-D401-A505-AC02DB2E4750}"/>
              </a:ext>
            </a:extLst>
          </p:cNvPr>
          <p:cNvSpPr txBox="1">
            <a:spLocks/>
          </p:cNvSpPr>
          <p:nvPr/>
        </p:nvSpPr>
        <p:spPr>
          <a:xfrm>
            <a:off x="6126480" y="4233933"/>
            <a:ext cx="5161280" cy="23374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df.loc[0, :]   # </a:t>
            </a:r>
            <a:r>
              <a:rPr lang="en-US" sz="24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KeyError</a:t>
            </a:r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: 0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df.loc[:, 0]   # </a:t>
            </a:r>
            <a:r>
              <a:rPr lang="en-US" sz="24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KeyError</a:t>
            </a:r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: 0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215C6-EEE0-01AD-64D0-06E68141D106}"/>
              </a:ext>
            </a:extLst>
          </p:cNvPr>
          <p:cNvSpPr txBox="1"/>
          <p:nvPr/>
        </p:nvSpPr>
        <p:spPr>
          <a:xfrm>
            <a:off x="833120" y="1905506"/>
            <a:ext cx="4856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Функция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loc</a:t>
            </a:r>
            <a:r>
              <a:rPr lang="en-US" sz="2400" dirty="0"/>
              <a:t> </a:t>
            </a:r>
            <a:r>
              <a:rPr lang="ru-RU" sz="2400" dirty="0"/>
              <a:t>работает с индексами строки, названиями колонок, а при использовании координат выдаёт ошибку.</a:t>
            </a:r>
            <a:endParaRPr lang="en-US" sz="2400" dirty="0"/>
          </a:p>
        </p:txBody>
      </p:sp>
      <p:pic>
        <p:nvPicPr>
          <p:cNvPr id="4" name="Рисунок 3" descr="Изображение выглядит как текст, линия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39D995-7B38-E4D5-986C-10E05C35A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1246316"/>
            <a:ext cx="63341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148ED-2D9E-B2A2-231B-5421DAEC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D7D2A-F407-01F5-6B6A-60F6032E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 err="1"/>
              <a:t>iloc</a:t>
            </a:r>
            <a:endParaRPr lang="ru-RU" dirty="0"/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id="{1AB270F7-8541-9999-63A4-0B5E18FF8E38}"/>
              </a:ext>
            </a:extLst>
          </p:cNvPr>
          <p:cNvSpPr txBox="1">
            <a:spLocks/>
          </p:cNvSpPr>
          <p:nvPr/>
        </p:nvSpPr>
        <p:spPr>
          <a:xfrm>
            <a:off x="5245417" y="3752166"/>
            <a:ext cx="4442778" cy="26720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df.iloc[0,:]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_______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id      1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age    10</a:t>
            </a:r>
          </a:p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Name: 1, dtype: object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CA40E-3F76-7FE5-53BE-1D99CB83B754}"/>
              </a:ext>
            </a:extLst>
          </p:cNvPr>
          <p:cNvSpPr txBox="1"/>
          <p:nvPr/>
        </p:nvSpPr>
        <p:spPr>
          <a:xfrm>
            <a:off x="833120" y="1905506"/>
            <a:ext cx="485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обращение к элементам </a:t>
            </a:r>
            <a:r>
              <a:rPr lang="en-US" sz="2400" dirty="0"/>
              <a:t>DataFrame</a:t>
            </a:r>
            <a:r>
              <a:rPr lang="ru-RU" sz="2400" dirty="0"/>
              <a:t> через</a:t>
            </a:r>
            <a:r>
              <a:rPr lang="en-US" sz="2400" dirty="0"/>
              <a:t> </a:t>
            </a:r>
            <a:r>
              <a:rPr lang="ru-RU" sz="2400" dirty="0"/>
              <a:t>координаты используйте функцию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iloc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7F781-A0B7-EB14-2ABC-BF51F696D4E3}"/>
              </a:ext>
            </a:extLst>
          </p:cNvPr>
          <p:cNvSpPr txBox="1"/>
          <p:nvPr/>
        </p:nvSpPr>
        <p:spPr>
          <a:xfrm>
            <a:off x="1193800" y="286603"/>
            <a:ext cx="980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DataFrame.iloc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[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координаты</a:t>
            </a:r>
            <a:r>
              <a:rPr lang="en-US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строк</a:t>
            </a:r>
            <a:r>
              <a:rPr lang="ru-RU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, </a:t>
            </a:r>
            <a:r>
              <a:rPr lang="ru-RU" sz="2400" b="1" i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координаты столбца(ов)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]</a:t>
            </a:r>
            <a:endParaRPr lang="ru-RU" sz="24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8" name="Рисунок 7" descr="Изображение выглядит как текст, линия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E56C0E-4720-057D-FABD-5258CF8E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17" y="1318895"/>
            <a:ext cx="6334125" cy="2228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BC268F-572F-9683-B8C2-F9782A7A9DF4}"/>
              </a:ext>
            </a:extLst>
          </p:cNvPr>
          <p:cNvSpPr txBox="1"/>
          <p:nvPr/>
        </p:nvSpPr>
        <p:spPr>
          <a:xfrm>
            <a:off x="833120" y="4175215"/>
            <a:ext cx="30872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df.iloc[[0, 2], [1]]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_______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   age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1   10</a:t>
            </a: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ourier New" panose="02070309020205020404" pitchFamily="49" charset="0"/>
              </a:rPr>
              <a:t>3   12</a:t>
            </a:r>
          </a:p>
        </p:txBody>
      </p:sp>
      <p:sp>
        <p:nvSpPr>
          <p:cNvPr id="12" name="Объект 4">
            <a:extLst>
              <a:ext uri="{FF2B5EF4-FFF2-40B4-BE49-F238E27FC236}">
                <a16:creationId xmlns:a16="http://schemas.microsoft.com/office/drawing/2014/main" id="{692BB474-9964-21F7-1451-3176A0CAAB00}"/>
              </a:ext>
            </a:extLst>
          </p:cNvPr>
          <p:cNvSpPr txBox="1">
            <a:spLocks/>
          </p:cNvSpPr>
          <p:nvPr/>
        </p:nvSpPr>
        <p:spPr>
          <a:xfrm>
            <a:off x="833120" y="3273981"/>
            <a:ext cx="3233738" cy="26720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df.iloc[0,</a:t>
            </a:r>
            <a:r>
              <a:rPr lang="ru-RU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1</a:t>
            </a:r>
            <a:r>
              <a:rPr lang="en-US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]     #</a:t>
            </a:r>
            <a:r>
              <a:rPr lang="ru-RU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10</a:t>
            </a:r>
            <a:br>
              <a:rPr lang="ru-RU" sz="2400" b="1" dirty="0">
                <a:latin typeface="Century Gothic" panose="020B0502020202020204" pitchFamily="34" charset="0"/>
                <a:cs typeface="Courier New" panose="02070309020205020404" pitchFamily="49" charset="0"/>
              </a:rPr>
            </a:br>
            <a:endParaRPr lang="en-US" sz="24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043359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1265</TotalTime>
  <Words>920</Words>
  <Application>Microsoft Office PowerPoint</Application>
  <PresentationFormat>Широкоэкранный</PresentationFormat>
  <Paragraphs>138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Century Gothic</vt:lpstr>
      <vt:lpstr>PT Root UI</vt:lpstr>
      <vt:lpstr>Ретро</vt:lpstr>
      <vt:lpstr>Продвинутый Pandas</vt:lpstr>
      <vt:lpstr>Индексы в Series и DataFrame</vt:lpstr>
      <vt:lpstr>Посмотреть Index</vt:lpstr>
      <vt:lpstr>Назначить Index</vt:lpstr>
      <vt:lpstr>Колонки в Dataframe</vt:lpstr>
      <vt:lpstr>Колонки в Dataframe</vt:lpstr>
      <vt:lpstr>Колонки в Dataframe</vt:lpstr>
      <vt:lpstr>Адресация в DataFrame</vt:lpstr>
      <vt:lpstr>Обращение к строке в DataFrame</vt:lpstr>
      <vt:lpstr>Функция loc</vt:lpstr>
      <vt:lpstr>Функция loc</vt:lpstr>
      <vt:lpstr>Функция loc</vt:lpstr>
      <vt:lpstr>Функция iloc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Pereskokov Viktor</dc:creator>
  <cp:lastModifiedBy>Pereskokov Viktor</cp:lastModifiedBy>
  <cp:revision>15</cp:revision>
  <dcterms:created xsi:type="dcterms:W3CDTF">2024-07-21T15:02:04Z</dcterms:created>
  <dcterms:modified xsi:type="dcterms:W3CDTF">2026-02-26T09:04:42Z</dcterms:modified>
</cp:coreProperties>
</file>